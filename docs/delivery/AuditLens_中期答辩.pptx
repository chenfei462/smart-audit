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54864" cy="146304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3" name="Text 1"/>
          <p:cNvSpPr/>
          <p:nvPr/>
        </p:nvSpPr>
        <p:spPr>
          <a:xfrm>
            <a:off x="1005840" y="146304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AuditLens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210312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智能审计平台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30175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BB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《Rust语言程序设计》课程项目中期答辩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657600"/>
            <a:ext cx="4572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答辩人：陈</a:t>
            </a:r>
            <a:r>
              <a:rPr lang="zh-CN" alt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禹陆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西安交通大学  2026年6月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7432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 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5" name="Text 3"/>
          <p:cNvSpPr/>
          <p:nvPr/>
        </p:nvSpPr>
        <p:spPr>
          <a:xfrm>
            <a:off x="1371600" y="10972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项目概述与选题背景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15544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94560" y="20116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核心技术实现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24688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已完成功能展示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阶段性成果总结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832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94560" y="33832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存在问题与挑战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94560" y="38404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下阶段工作计划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94560" y="42976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项目概述与选题背景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项目信息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项目名称：</a:t>
            </a:r>
            <a:r>
              <a:rPr lang="en-US" sz="1200" dirty="0">
                <a:solidFill>
                  <a:srgbClr val="2A6D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AuditLens 智能审计平台
</a:t>
            </a:r>
            <a:r>
              <a:rPr lang="en-US" sz="1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开发语言：</a:t>
            </a:r>
            <a:r>
              <a:rPr lang="en-US" sz="12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Rust (Edition 2021)
</a:t>
            </a:r>
            <a:r>
              <a:rPr lang="en-US" sz="1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项目定位：</a:t>
            </a:r>
            <a:r>
              <a:rPr lang="en-US" sz="12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面向政府财政监督场景的
              智能审计产品
</a:t>
            </a:r>
            <a:r>
              <a:rPr lang="en-US" sz="12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核心技术栈：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Actix-Web / Tokio / Rayon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SQLite / AES-GCM / printpdf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74904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政府财政监督数字化转型需求迫切
</a:t>
            </a:r>
            <a:r>
              <a:rPr lang="en-US" sz="1200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传统人工审计效率低、覆盖面有限
</a:t>
            </a:r>
            <a:r>
              <a:rPr lang="en-US" sz="1200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Rust 高性能与内存安全适合审计场景
</a:t>
            </a:r>
            <a:r>
              <a:rPr lang="en-US" sz="1200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结合统计分析与规则引擎实现智能风控
</a:t>
            </a:r>
            <a:r>
              <a:rPr lang="en-US" sz="1200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</a:t>
            </a: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内置法规知识库确保审计合规性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系统架构设计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5" name="Shape 3"/>
          <p:cNvSpPr/>
          <p:nvPr/>
        </p:nvSpPr>
        <p:spPr>
          <a:xfrm>
            <a:off x="457200" y="100584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2D4A7A"/>
          </a:solidFill>
        </p:spPr>
      </p:sp>
      <p:sp>
        <p:nvSpPr>
          <p:cNvPr id="6" name="Text 4"/>
          <p:cNvSpPr/>
          <p:nvPr/>
        </p:nvSpPr>
        <p:spPr>
          <a:xfrm>
            <a:off x="640080" y="1051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交互层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4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Actix-Web / HTML+JS 前端 / Session 认证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3A5A8A"/>
          </a:solidFill>
        </p:spPr>
      </p:sp>
      <p:sp>
        <p:nvSpPr>
          <p:cNvPr id="9" name="Text 7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分析层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4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辅助解读 / 多模态处理 (OCR/ASR)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4A6A9A"/>
          </a:solidFill>
        </p:spPr>
      </p:sp>
      <p:sp>
        <p:nvSpPr>
          <p:cNvPr id="12" name="Text 10"/>
          <p:cNvSpPr/>
          <p:nvPr/>
        </p:nvSpPr>
        <p:spPr>
          <a:xfrm>
            <a:off x="640080" y="2606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规则引擎层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4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8种审计规则 / Trait多态 / TOML配置驱动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5A7AAA"/>
          </a:solidFill>
        </p:spPr>
      </p:sp>
      <p:sp>
        <p:nvSpPr>
          <p:cNvPr id="15" name="Text 13"/>
          <p:cNvSpPr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异常检测层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4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Z-Score / Benford定律 / 资金回流 / 期末检测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029200" cy="658368"/>
          </a:xfrm>
          <a:prstGeom prst="roundRect">
            <a:avLst>
              <a:gd name="adj" fmla="val 11111"/>
            </a:avLst>
          </a:prstGeom>
          <a:solidFill>
            <a:srgbClr val="6A8ABA"/>
          </a:solidFill>
        </p:spPr>
      </p:sp>
      <p:sp>
        <p:nvSpPr>
          <p:cNvPr id="18" name="Text 16"/>
          <p:cNvSpPr/>
          <p:nvPr/>
        </p:nvSpPr>
        <p:spPr>
          <a:xfrm>
            <a:off x="640080" y="41605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数据解析层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4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CSV/Excel 解析 / 数据标准化 / 编码处理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3017520" cy="3767328"/>
          </a:xfrm>
          <a:prstGeom prst="roundRect">
            <a:avLst>
              <a:gd name="adj" fmla="val 3030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 Rust 特性应用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15087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Trait 多态：AuditRule trait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18745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所有权 &amp; 生命周期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2402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async/await + Tokio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60604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Rayon 并行计算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9718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serde 序列化/反序列化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33375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thiserror + anyhow 错误处理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7033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Rust Decimal 精确金额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406908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AES-GCM 加密安全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核心技术实现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审计规则引擎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AuditRule Trait 接口设计，支持热插拔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TOML 配置文件驱动规则参数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RuleExecutor 统一调度多规则并行执行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每条发现关联法规依据和整改建议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统计异常检测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6576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Z-Score 金额波动异常识别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Benford 定律首位数分布检验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同日同额资金回流检测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期末集中支付与高频往来分析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安全与数据保护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657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AES-256-GCM 加密存储敏感数据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bcrypt 密码哈希安全认证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Cookie Session + 角色权限控制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PDF 密封导出与审计留痕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多格式报告导出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429000"/>
            <a:ext cx="36576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终端彩色输出（colored）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JSON / CSV 结构化导出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PDF 标准审计报告（printpdf）
</a:t>
            </a:r>
            <a:r>
              <a:rPr lang="en-US" sz="11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自定义品牌标识与模板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已完成功能展示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CLI 审计引擎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2860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命令行驱动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CSV/Excel 数据审计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多格式报告输出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9728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10972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 管理平台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2860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仪表盘数据概览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任务生命周期管理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多租户隔离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9728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75120" y="10972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法规合规库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2860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会计法/预算法/采购法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审计发现关联法条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整改建议自动生成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175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安全保障体系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474720"/>
            <a:ext cx="22860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AES-GCM 加密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bcrypt 认证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审计留痕日志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0175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30175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可视化分析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474720"/>
            <a:ext cx="22860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趋势图表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风险分布热力图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资金流向分析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175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75120" y="30175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辅助分析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474720"/>
            <a:ext cx="228600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智能解读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多模态文档处理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结构化摘要生成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阶段性成果总结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5" name="Shape 3"/>
          <p:cNvSpPr/>
          <p:nvPr/>
        </p:nvSpPr>
        <p:spPr>
          <a:xfrm>
            <a:off x="457200" y="10058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A6DB2"/>
          </a:solidFill>
        </p:spPr>
      </p:sp>
      <p:sp>
        <p:nvSpPr>
          <p:cNvPr id="6" name="Text 4"/>
          <p:cNvSpPr/>
          <p:nvPr/>
        </p:nvSpPr>
        <p:spPr>
          <a:xfrm>
            <a:off x="457200" y="105156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Rust 源文件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7724B"/>
          </a:solidFill>
        </p:spPr>
      </p:sp>
      <p:sp>
        <p:nvSpPr>
          <p:cNvPr id="9" name="Text 7"/>
          <p:cNvSpPr/>
          <p:nvPr/>
        </p:nvSpPr>
        <p:spPr>
          <a:xfrm>
            <a:off x="2606040" y="105156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6002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审计规则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C49A3C"/>
          </a:solidFill>
        </p:spPr>
      </p:sp>
      <p:sp>
        <p:nvSpPr>
          <p:cNvPr id="12" name="Text 10"/>
          <p:cNvSpPr/>
          <p:nvPr/>
        </p:nvSpPr>
        <p:spPr>
          <a:xfrm>
            <a:off x="4754880" y="105156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6002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法规知识库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C0392B"/>
          </a:solidFill>
        </p:spPr>
      </p:sp>
      <p:sp>
        <p:nvSpPr>
          <p:cNvPr id="15" name="Text 13"/>
          <p:cNvSpPr/>
          <p:nvPr/>
        </p:nvSpPr>
        <p:spPr>
          <a:xfrm>
            <a:off x="6903720" y="105156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6002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导出格式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286000"/>
            <a:ext cx="822960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2772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完整的 Trait 驱动审计规则引擎，支持配置化热插拔
</a:t>
            </a:r>
            <a:r>
              <a:rPr lang="en-US" sz="1300" dirty="0">
                <a:solidFill>
                  <a:srgbClr val="2772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多层级异常检测体系（Z-Score + Benford + 时序分析）
</a:t>
            </a:r>
            <a:r>
              <a:rPr lang="en-US" sz="1300" dirty="0">
                <a:solidFill>
                  <a:srgbClr val="2772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产品级 Web 平台（认证、租户隔离、任务管理、可视化）
</a:t>
            </a:r>
            <a:r>
              <a:rPr lang="en-US" sz="1300" dirty="0">
                <a:solidFill>
                  <a:srgbClr val="2772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法规合规知识库（会计法 / 预算法 / 采购法条款映射）
</a:t>
            </a:r>
            <a:r>
              <a:rPr lang="en-US" sz="1300" dirty="0">
                <a:solidFill>
                  <a:srgbClr val="2772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AES-GCM 加密 + bcrypt 认证 + PDF 密封导出安全体系
</a:t>
            </a:r>
            <a:r>
              <a:rPr lang="en-US" sz="1300" dirty="0">
                <a:solidFill>
                  <a:srgbClr val="2772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✅ </a:t>
            </a:r>
            <a:r>
              <a:rPr lang="en-US" sz="13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充分运用 Rust 所有权、Trait、async/await 等核心特性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存在问题与挑战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5" name="Shape 3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大模型集成未完全落地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异步流式 API 对接复杂，Rust async 学习曲线较高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2344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C49A3C"/>
          </a:solidFill>
        </p:spPr>
      </p:sp>
      <p:sp>
        <p:nvSpPr>
          <p:cNvPr id="9" name="Text 7"/>
          <p:cNvSpPr/>
          <p:nvPr/>
        </p:nvSpPr>
        <p:spPr>
          <a:xfrm>
            <a:off x="7315200" y="123444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65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多模态处理依赖外部桥接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OCR/ASR 需 Python 桥接服务，部署复杂度增加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21488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C0392B"/>
          </a:solidFill>
        </p:spPr>
      </p:sp>
      <p:sp>
        <p:nvSpPr>
          <p:cNvPr id="14" name="Text 12"/>
          <p:cNvSpPr/>
          <p:nvPr/>
        </p:nvSpPr>
        <p:spPr>
          <a:xfrm>
            <a:off x="7315200" y="214884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待优化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803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数据库仅使用 SQLite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生产环境并发和多租户隔离能力有限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30632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C0392B"/>
          </a:solidFill>
        </p:spPr>
      </p:sp>
      <p:sp>
        <p:nvSpPr>
          <p:cNvPr id="19" name="Text 17"/>
          <p:cNvSpPr/>
          <p:nvPr/>
        </p:nvSpPr>
        <p:spPr>
          <a:xfrm>
            <a:off x="7315200" y="306324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待升级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自动化测试覆盖不足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集成测试和 E2E 测试缺失，关键路径缺乏保障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39776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2A6DB2"/>
          </a:solidFill>
        </p:spPr>
      </p:sp>
      <p:sp>
        <p:nvSpPr>
          <p:cNvPr id="24" name="Text 22"/>
          <p:cNvSpPr/>
          <p:nvPr/>
        </p:nvSpPr>
        <p:spPr>
          <a:xfrm>
            <a:off x="7315200" y="397764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待补充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A4A"/>
          </a:solidFill>
        </p:spPr>
      </p:sp>
      <p:sp>
        <p:nvSpPr>
          <p:cNvPr id="3" name="Text 1"/>
          <p:cNvSpPr/>
          <p:nvPr/>
        </p:nvSpPr>
        <p:spPr>
          <a:xfrm>
            <a:off x="457200" y="914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 下阶段工作计划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182880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5" name="Shape 3"/>
          <p:cNvSpPr/>
          <p:nvPr/>
        </p:nvSpPr>
        <p:spPr>
          <a:xfrm>
            <a:off x="1645920" y="1280160"/>
            <a:ext cx="36576" cy="3291840"/>
          </a:xfrm>
          <a:prstGeom prst="rect">
            <a:avLst/>
          </a:prstGeom>
          <a:solidFill>
            <a:srgbClr val="CCD0D8"/>
          </a:solidFill>
        </p:spPr>
      </p:sp>
      <p:sp>
        <p:nvSpPr>
          <p:cNvPr id="6" name="Shape 4"/>
          <p:cNvSpPr/>
          <p:nvPr/>
        </p:nvSpPr>
        <p:spPr>
          <a:xfrm>
            <a:off x="1536192" y="1234440"/>
            <a:ext cx="256032" cy="256032"/>
          </a:xfrm>
          <a:prstGeom prst="ellipse">
            <a:avLst/>
          </a:prstGeom>
          <a:solidFill>
            <a:srgbClr val="2A6D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A6D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第16周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097280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115568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6.23-6.29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325880"/>
            <a:ext cx="5943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大模型端到端集成 &amp; 前端交互优化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36192" y="1892808"/>
            <a:ext cx="256032" cy="256032"/>
          </a:xfrm>
          <a:prstGeom prst="ellipse">
            <a:avLst/>
          </a:prstGeom>
          <a:solidFill>
            <a:srgbClr val="3A8A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47088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A8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第17周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1755648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773936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6.30-7.06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1984248"/>
            <a:ext cx="5943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多模态处理完善 &amp; 报告模板化导出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36192" y="2551176"/>
            <a:ext cx="256032" cy="256032"/>
          </a:xfrm>
          <a:prstGeom prst="ellipse">
            <a:avLst/>
          </a:prstGeom>
          <a:solidFill>
            <a:srgbClr val="C49A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05456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第18周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03120" y="2414016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432304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7.07-7.13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2642616"/>
            <a:ext cx="5943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测试补充 (覆盖率≥60%) &amp; 数据库升级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536192" y="3209544"/>
            <a:ext cx="256032" cy="256032"/>
          </a:xfrm>
          <a:prstGeom prst="ellipse">
            <a:avLst/>
          </a:prstGeom>
          <a:solidFill>
            <a:srgbClr val="8A5AA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163824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5AA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第19周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03120" y="3072384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090672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7.14-7.20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3300984"/>
            <a:ext cx="5943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性能优化 &amp; 压力测试 &amp; 部署文档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36192" y="3867912"/>
            <a:ext cx="256032" cy="256032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22192"/>
            <a:ext cx="1097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第20周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03120" y="3730752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37490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5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7.21-7.27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3959352"/>
            <a:ext cx="5943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最终集成测试 &amp; 终期报告 &amp; 答辩准备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C49A3C"/>
          </a:solidFill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AuditLens 项目充分实践了 Rust 语言的核心特性 —— 所有权系统、Trait 多态、
</a:t>
            </a:r>
            <a:r>
              <a:rPr lang="en-US" sz="1300" dirty="0">
                <a:solidFill>
                  <a:srgbClr val="AABB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async/await 异步编程和类型安全错误处理，构建了一套面向真实业务场景的
</a:t>
            </a:r>
            <a:r>
              <a:rPr lang="en-US" sz="1300" dirty="0">
                <a:solidFill>
                  <a:srgbClr val="AABB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智能审计平台。下一阶段将聚焦 AI 集成、测试完善和生产级部署能力。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49A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谢谢各位老师！</a:t>
            </a:r>
            <a:endParaRPr lang="en-US" sz="3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2976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577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2069</Words>
  <Application>WPS 演示</Application>
  <PresentationFormat>On-screen Show (16:9)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AuditLens 智能审计平台 - 中期答辩</dc:title>
  <dc:creator>陈宇路</dc:creator>
  <dc:subject>PptxGenJS Presentation</dc:subject>
  <cp:lastModifiedBy>hacjr</cp:lastModifiedBy>
  <cp:revision>2</cp:revision>
  <dcterms:created xsi:type="dcterms:W3CDTF">2026-06-20T10:53:00Z</dcterms:created>
  <dcterms:modified xsi:type="dcterms:W3CDTF">2026-06-20T13:31:15Z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0A0B80A1AF8946E8A270606548A8FACE_12</vt:lpwstr>
  </property>
</Properties>
</file>