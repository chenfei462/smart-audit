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开场：各位老师好，我们是 XX 组，今天汇报的项目是 AuditLens 财政监督工作台。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今天汇报五个部分：背景目标、特色创新、核心功能、成果展示、价值展望。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传统财政审计存在效率低、数据分散、风险滞后、证据不可信四大痛点。我们的目标是构建一体化工作台解决这些问题。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六大创新点：Rust 高性能引擎实现单文件部署；AI 仅作解释层确保审计权威；密封包保证证据不可篡改；三方角色协同；多模态票据识别；双环境灵活部署。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四层架构：前端纯 HTML/JS 无框架依赖；Actix-Web 高性能服务层；业务层集成规则引擎、AI、OCR 等能力；底层支持三种数据库。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十大功能模块覆盖了从数据接入、风险识别、AI 解读到报告导出、整改追踪的完整审计闭环。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核心数据：10+功能模块、4大审计场景、3级角色体系、2种部署策略。交付物包括完整可运行系统、验收清单、技术文档等。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演示按5步走：登录→创建任务→查看风险→生成报告→整改闭环。注意强调这是样板环境，真实数据只进私有PoC。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从技术、业务、社会三个维度总结项目价值。Rust 保障性能安全，业务上覆盖全流程，社会层面助力政府数字化治理。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感谢各位老师。接下来欢迎提问，我们准备好了。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548640"/>
            <a:ext cx="640080" cy="6400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280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AuditLens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457200" y="20116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spc="400" kern="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财政监督工作台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3200400" y="2834640"/>
            <a:ext cx="2743200" cy="0"/>
          </a:xfrm>
          <a:prstGeom prst="line">
            <a:avLst/>
          </a:prstGeom>
          <a:noFill/>
          <a:ln w="19050">
            <a:solidFill>
              <a:srgbClr val="C49A3C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31089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项目结题答辩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457200" y="43891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 年度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汇报提纲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7680960" cy="566928"/>
          </a:xfrm>
          <a:prstGeom prst="roundRect">
            <a:avLst>
              <a:gd name="adj" fmla="val 8065"/>
            </a:avLst>
          </a:prstGeom>
          <a:solidFill>
            <a:srgbClr val="F0F2F5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1380744"/>
            <a:ext cx="365760" cy="3657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554480" y="1280160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2194560" y="1280160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项目背景与目标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731520" y="1993392"/>
            <a:ext cx="76809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5840" y="2093976"/>
            <a:ext cx="365760" cy="3657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554480" y="1993392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2194560" y="1993392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特色与创新点</a:t>
            </a:r>
            <a:endParaRPr lang="en-US" sz="1800" dirty="0"/>
          </a:p>
        </p:txBody>
      </p:sp>
      <p:sp>
        <p:nvSpPr>
          <p:cNvPr id="11" name="Shape 7"/>
          <p:cNvSpPr/>
          <p:nvPr/>
        </p:nvSpPr>
        <p:spPr>
          <a:xfrm>
            <a:off x="731520" y="2706624"/>
            <a:ext cx="7680960" cy="566928"/>
          </a:xfrm>
          <a:prstGeom prst="roundRect">
            <a:avLst>
              <a:gd name="adj" fmla="val 8065"/>
            </a:avLst>
          </a:prstGeom>
          <a:solidFill>
            <a:srgbClr val="F0F2F5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5840" y="2807208"/>
            <a:ext cx="365760" cy="36576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54480" y="2706624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000" dirty="0"/>
          </a:p>
        </p:txBody>
      </p:sp>
      <p:sp>
        <p:nvSpPr>
          <p:cNvPr id="14" name="Text 9"/>
          <p:cNvSpPr/>
          <p:nvPr/>
        </p:nvSpPr>
        <p:spPr>
          <a:xfrm>
            <a:off x="2194560" y="2706624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核心功能与架构</a:t>
            </a:r>
            <a:endParaRPr lang="en-US" sz="1800" dirty="0"/>
          </a:p>
        </p:txBody>
      </p:sp>
      <p:sp>
        <p:nvSpPr>
          <p:cNvPr id="15" name="Shape 10"/>
          <p:cNvSpPr/>
          <p:nvPr/>
        </p:nvSpPr>
        <p:spPr>
          <a:xfrm>
            <a:off x="731520" y="3419856"/>
            <a:ext cx="7680960" cy="566928"/>
          </a:xfrm>
          <a:prstGeom prst="roundRect">
            <a:avLst>
              <a:gd name="adj" fmla="val 8065"/>
            </a:avLst>
          </a:prstGeom>
          <a:solidFill>
            <a:srgbClr val="FFFFFF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3520440"/>
            <a:ext cx="365760" cy="36576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554480" y="3419856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000" dirty="0"/>
          </a:p>
        </p:txBody>
      </p:sp>
      <p:sp>
        <p:nvSpPr>
          <p:cNvPr id="18" name="Text 12"/>
          <p:cNvSpPr/>
          <p:nvPr/>
        </p:nvSpPr>
        <p:spPr>
          <a:xfrm>
            <a:off x="2194560" y="3419856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项目成果展示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731520" y="4133088"/>
            <a:ext cx="7680960" cy="566928"/>
          </a:xfrm>
          <a:prstGeom prst="roundRect">
            <a:avLst>
              <a:gd name="adj" fmla="val 8065"/>
            </a:avLst>
          </a:prstGeom>
          <a:solidFill>
            <a:srgbClr val="F0F2F5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" y="4233672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554480" y="4133088"/>
            <a:ext cx="6400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000" dirty="0"/>
          </a:p>
        </p:txBody>
      </p:sp>
      <p:sp>
        <p:nvSpPr>
          <p:cNvPr id="22" name="Text 15"/>
          <p:cNvSpPr/>
          <p:nvPr/>
        </p:nvSpPr>
        <p:spPr>
          <a:xfrm>
            <a:off x="2194560" y="413308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项目价值与展望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项目背景与目标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280160"/>
            <a:ext cx="3657600" cy="3200400"/>
          </a:xfrm>
          <a:prstGeom prst="roundRect">
            <a:avLst>
              <a:gd name="adj" fmla="val 2857"/>
            </a:avLst>
          </a:prstGeom>
          <a:solidFill>
            <a:srgbClr val="F8F9FB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371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现实痛点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05840" y="192024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财政审计依赖人工经验，效率低下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数据分散在多系统，缺乏统一分析入口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风险识别滞后，整改追踪困难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审计证据易被篡改，缺乏可信存证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280160"/>
            <a:ext cx="3657600" cy="3200400"/>
          </a:xfrm>
          <a:prstGeom prst="roundRect">
            <a:avLst>
              <a:gd name="adj" fmla="val 2857"/>
            </a:avLst>
          </a:prstGeom>
          <a:solidFill>
            <a:srgbClr val="F0F7F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029200" y="13716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72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项目目标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029200" y="1920240"/>
            <a:ext cx="3108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构建一体化财政监督工作台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自动化规则引擎识别财政风险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辅助解读 + 多模态票据识别</a:t>
            </a:r>
            <a:endParaRPr lang="en-US" sz="14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实现审计全流程闭环管理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特色与创新点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2468880" cy="1691640"/>
          </a:xfrm>
          <a:prstGeom prst="roundRect">
            <a:avLst>
              <a:gd name="adj" fmla="val 5405"/>
            </a:avLst>
          </a:prstGeom>
          <a:solidFill>
            <a:srgbClr val="2D4A7A">
              <a:alpha val="6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261872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高性能引擎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14400" y="1783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单二进制部署，零运行时依赖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启动秒级，内存安全无 GC 停顿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3474720" y="1097280"/>
            <a:ext cx="2468880" cy="1691640"/>
          </a:xfrm>
          <a:prstGeom prst="roundRect">
            <a:avLst>
              <a:gd name="adj" fmla="val 5405"/>
            </a:avLst>
          </a:prstGeom>
          <a:solidFill>
            <a:srgbClr val="2D4A7A">
              <a:alpha val="60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261872"/>
            <a:ext cx="384048" cy="38404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6052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安全定位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3657600" y="1783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仅作解释层，不作结论引擎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规则结果才是正式审计结论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217920" y="1097280"/>
            <a:ext cx="2468880" cy="1691640"/>
          </a:xfrm>
          <a:prstGeom prst="roundRect">
            <a:avLst>
              <a:gd name="adj" fmla="val 5405"/>
            </a:avLst>
          </a:prstGeom>
          <a:solidFill>
            <a:srgbClr val="2D4A7A">
              <a:alpha val="60000"/>
            </a:srgbClr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261872"/>
            <a:ext cx="384048" cy="384048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0372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密封导出包</a:t>
            </a:r>
            <a:endParaRPr lang="en-US" sz="1500" dirty="0"/>
          </a:p>
        </p:txBody>
      </p:sp>
      <p:sp>
        <p:nvSpPr>
          <p:cNvPr id="14" name="Text 9"/>
          <p:cNvSpPr/>
          <p:nvPr/>
        </p:nvSpPr>
        <p:spPr>
          <a:xfrm>
            <a:off x="6400800" y="1783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AES-GCM 加密 + SHA-256 校验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审计证据不可篡改、可验真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731520" y="3017520"/>
            <a:ext cx="2468880" cy="1691640"/>
          </a:xfrm>
          <a:prstGeom prst="roundRect">
            <a:avLst>
              <a:gd name="adj" fmla="val 5405"/>
            </a:avLst>
          </a:prstGeom>
          <a:solidFill>
            <a:srgbClr val="2D4A7A">
              <a:alpha val="60000"/>
            </a:srgbClr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182112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417320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三方协同工作流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914400" y="37033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财政局 · 纪委 · 信息中心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三级权限精细管控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3474720" y="3017520"/>
            <a:ext cx="2468880" cy="1691640"/>
          </a:xfrm>
          <a:prstGeom prst="roundRect">
            <a:avLst>
              <a:gd name="adj" fmla="val 5405"/>
            </a:avLst>
          </a:prstGeom>
          <a:solidFill>
            <a:srgbClr val="2D4A7A">
              <a:alpha val="60000"/>
            </a:srgbClr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182112"/>
            <a:ext cx="384048" cy="38404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4160520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多模态识别</a:t>
            </a:r>
            <a:endParaRPr lang="en-US" sz="1500" dirty="0"/>
          </a:p>
        </p:txBody>
      </p:sp>
      <p:sp>
        <p:nvSpPr>
          <p:cNvPr id="22" name="Text 15"/>
          <p:cNvSpPr/>
          <p:nvPr/>
        </p:nvSpPr>
        <p:spPr>
          <a:xfrm>
            <a:off x="3657600" y="37033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票据自动识别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ASR 语音转写辅助</a:t>
            </a:r>
            <a:endParaRPr lang="en-US" sz="1200" dirty="0"/>
          </a:p>
        </p:txBody>
      </p:sp>
      <p:sp>
        <p:nvSpPr>
          <p:cNvPr id="23" name="Shape 16"/>
          <p:cNvSpPr/>
          <p:nvPr/>
        </p:nvSpPr>
        <p:spPr>
          <a:xfrm>
            <a:off x="6217920" y="3017520"/>
            <a:ext cx="2468880" cy="1691640"/>
          </a:xfrm>
          <a:prstGeom prst="roundRect">
            <a:avLst>
              <a:gd name="adj" fmla="val 5405"/>
            </a:avLst>
          </a:prstGeom>
          <a:solidFill>
            <a:srgbClr val="2D4A7A">
              <a:alpha val="60000"/>
            </a:srgbClr>
          </a:solidFill>
          <a:ln/>
        </p:spPr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0" y="3182112"/>
            <a:ext cx="384048" cy="38404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903720" y="3154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双环境策略</a:t>
            </a:r>
            <a:endParaRPr lang="en-US" sz="1500" dirty="0"/>
          </a:p>
        </p:txBody>
      </p:sp>
      <p:sp>
        <p:nvSpPr>
          <p:cNvPr id="26" name="Text 18"/>
          <p:cNvSpPr/>
          <p:nvPr/>
        </p:nvSpPr>
        <p:spPr>
          <a:xfrm>
            <a:off x="6400800" y="370332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公网样板 + 政务云 PoC</a:t>
            </a:r>
            <a:endParaRPr lang="en-US" sz="12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灵活适配不同部署场景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核心功能与技术架构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7680960" cy="749808"/>
          </a:xfrm>
          <a:prstGeom prst="roundRect">
            <a:avLst>
              <a:gd name="adj" fmla="val 9756"/>
            </a:avLst>
          </a:prstGeom>
          <a:solidFill>
            <a:srgbClr val="E8F0FE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09728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6D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前端展示层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017520" y="109728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纯 HTML/JS  ·  响应式工作台  ·  数据可视化图表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06240" y="17830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5A5"/>
                </a:solidFill>
              </a:rPr>
              <a:t>▼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2011680"/>
            <a:ext cx="7680960" cy="749808"/>
          </a:xfrm>
          <a:prstGeom prst="roundRect">
            <a:avLst>
              <a:gd name="adj" fmla="val 9756"/>
            </a:avLst>
          </a:prstGeom>
          <a:solidFill>
            <a:srgbClr val="DBEAFE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005840" y="201168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A6D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服务层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017520" y="201168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Actix-Web 4  ·  REST API  ·  Cookie Session  ·  RBAC 三级权限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0" y="26974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5A5"/>
                </a:solidFill>
              </a:rPr>
              <a:t>▼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31520" y="2926080"/>
            <a:ext cx="7680960" cy="749808"/>
          </a:xfrm>
          <a:prstGeom prst="roundRect">
            <a:avLst>
              <a:gd name="adj" fmla="val 9756"/>
            </a:avLst>
          </a:prstGeom>
          <a:solidFill>
            <a:srgbClr val="C7D9F5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292608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业务引擎层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017520" y="292608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规则引擎  ·  AI 辅助解读  ·  OCR/ASR  ·  PDF 报告  ·  密封导出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06240" y="361188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5A5"/>
                </a:solidFill>
              </a:rPr>
              <a:t>▼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31520" y="3840480"/>
            <a:ext cx="7680960" cy="749808"/>
          </a:xfrm>
          <a:prstGeom prst="roundRect">
            <a:avLst>
              <a:gd name="adj" fmla="val 9756"/>
            </a:avLst>
          </a:prstGeom>
          <a:solidFill>
            <a:srgbClr val="B0CAE8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05840" y="3840480"/>
            <a:ext cx="20116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数据持久层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017520" y="3840480"/>
            <a:ext cx="5120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/ MySQL / PostgreSQL  ·  加密存储  ·  审计日志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4572000"/>
            <a:ext cx="7680960" cy="411480"/>
          </a:xfrm>
          <a:prstGeom prst="roundRect">
            <a:avLst>
              <a:gd name="adj" fmla="val 11111"/>
            </a:avLst>
          </a:prstGeom>
          <a:solidFill>
            <a:srgbClr val="0F1B33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57200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 ·  Actix-Web  ·  SQLite/MySQL/PostgreSQL  ·  printpdf  ·  AES-GCM  ·  reqwest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十大功能模块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3749040" cy="621792"/>
          </a:xfrm>
          <a:prstGeom prst="roundRect">
            <a:avLst>
              <a:gd name="adj" fmla="val 8824"/>
            </a:avLst>
          </a:prstGeom>
          <a:solidFill>
            <a:srgbClr val="F8F9FB"/>
          </a:solidFill>
          <a:ln/>
        </p:spPr>
      </p:sp>
      <p:sp>
        <p:nvSpPr>
          <p:cNvPr id="4" name="Text 2"/>
          <p:cNvSpPr/>
          <p:nvPr/>
        </p:nvSpPr>
        <p:spPr>
          <a:xfrm>
            <a:off x="868680" y="1051560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1280160" y="10972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租户与权限体系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80160" y="13716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admin/auditor/viewer 三级角色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846320" y="1051560"/>
            <a:ext cx="3749040" cy="621792"/>
          </a:xfrm>
          <a:prstGeom prst="roundRect">
            <a:avLst>
              <a:gd name="adj" fmla="val 8824"/>
            </a:avLst>
          </a:prstGeom>
          <a:solidFill>
            <a:srgbClr val="F0F7F3"/>
          </a:solidFill>
          <a:ln/>
        </p:spPr>
      </p:sp>
      <p:sp>
        <p:nvSpPr>
          <p:cNvPr id="8" name="Text 6"/>
          <p:cNvSpPr/>
          <p:nvPr/>
        </p:nvSpPr>
        <p:spPr>
          <a:xfrm>
            <a:off x="4983480" y="1051560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394960" y="1097280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场景化审计任务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394960" y="1371600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预算·采购·支付·凭证四大场景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1801368"/>
            <a:ext cx="3749040" cy="621792"/>
          </a:xfrm>
          <a:prstGeom prst="roundRect">
            <a:avLst>
              <a:gd name="adj" fmla="val 8824"/>
            </a:avLst>
          </a:prstGeom>
          <a:solidFill>
            <a:srgbClr val="F8F9FB"/>
          </a:solidFill>
          <a:ln/>
        </p:spPr>
      </p:sp>
      <p:sp>
        <p:nvSpPr>
          <p:cNvPr id="12" name="Text 10"/>
          <p:cNvSpPr/>
          <p:nvPr/>
        </p:nvSpPr>
        <p:spPr>
          <a:xfrm>
            <a:off x="868680" y="1801368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280160" y="18470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规则引擎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1214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自动化财政风险识别与预警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846320" y="1801368"/>
            <a:ext cx="3749040" cy="621792"/>
          </a:xfrm>
          <a:prstGeom prst="roundRect">
            <a:avLst>
              <a:gd name="adj" fmla="val 8824"/>
            </a:avLst>
          </a:prstGeom>
          <a:solidFill>
            <a:srgbClr val="F0F7F3"/>
          </a:solidFill>
          <a:ln/>
        </p:spPr>
      </p:sp>
      <p:sp>
        <p:nvSpPr>
          <p:cNvPr id="16" name="Text 14"/>
          <p:cNvSpPr/>
          <p:nvPr/>
        </p:nvSpPr>
        <p:spPr>
          <a:xfrm>
            <a:off x="4983480" y="1801368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394960" y="1847088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辅助解读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394960" y="2121408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解释层定位，不替代审计判断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1520" y="2551176"/>
            <a:ext cx="3749040" cy="621792"/>
          </a:xfrm>
          <a:prstGeom prst="roundRect">
            <a:avLst>
              <a:gd name="adj" fmla="val 8824"/>
            </a:avLst>
          </a:prstGeom>
          <a:solidFill>
            <a:srgbClr val="F8F9FB"/>
          </a:solidFill>
          <a:ln/>
        </p:spPr>
      </p:sp>
      <p:sp>
        <p:nvSpPr>
          <p:cNvPr id="20" name="Text 18"/>
          <p:cNvSpPr/>
          <p:nvPr/>
        </p:nvSpPr>
        <p:spPr>
          <a:xfrm>
            <a:off x="868680" y="2551176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280160" y="259689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多模态识别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280160" y="28712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OCR 票据 + ASR 语音转写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846320" y="2551176"/>
            <a:ext cx="3749040" cy="621792"/>
          </a:xfrm>
          <a:prstGeom prst="roundRect">
            <a:avLst>
              <a:gd name="adj" fmla="val 8824"/>
            </a:avLst>
          </a:prstGeom>
          <a:solidFill>
            <a:srgbClr val="F0F7F3"/>
          </a:solidFill>
          <a:ln/>
        </p:spPr>
      </p:sp>
      <p:sp>
        <p:nvSpPr>
          <p:cNvPr id="24" name="Text 22"/>
          <p:cNvSpPr/>
          <p:nvPr/>
        </p:nvSpPr>
        <p:spPr>
          <a:xfrm>
            <a:off x="4983480" y="2551176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394960" y="2596896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数据源管理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394960" y="2871216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受控模板 + 白名单表接入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3300984"/>
            <a:ext cx="3749040" cy="621792"/>
          </a:xfrm>
          <a:prstGeom prst="roundRect">
            <a:avLst>
              <a:gd name="adj" fmla="val 8824"/>
            </a:avLst>
          </a:prstGeom>
          <a:solidFill>
            <a:srgbClr val="F8F9FB"/>
          </a:solidFill>
          <a:ln/>
        </p:spPr>
      </p:sp>
      <p:sp>
        <p:nvSpPr>
          <p:cNvPr id="28" name="Text 26"/>
          <p:cNvSpPr/>
          <p:nvPr/>
        </p:nvSpPr>
        <p:spPr>
          <a:xfrm>
            <a:off x="868680" y="3300984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280160" y="33467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标准报告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280160" y="36210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一键生成财政监督标准报告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846320" y="3300984"/>
            <a:ext cx="3749040" cy="621792"/>
          </a:xfrm>
          <a:prstGeom prst="roundRect">
            <a:avLst>
              <a:gd name="adj" fmla="val 8824"/>
            </a:avLst>
          </a:prstGeom>
          <a:solidFill>
            <a:srgbClr val="F0F7F3"/>
          </a:solidFill>
          <a:ln/>
        </p:spPr>
      </p:sp>
      <p:sp>
        <p:nvSpPr>
          <p:cNvPr id="32" name="Text 30"/>
          <p:cNvSpPr/>
          <p:nvPr/>
        </p:nvSpPr>
        <p:spPr>
          <a:xfrm>
            <a:off x="4983480" y="3300984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5394960" y="3346704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密封导出包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394960" y="3621024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AES-GCM 加密密封证据包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731520" y="4050792"/>
            <a:ext cx="3749040" cy="621792"/>
          </a:xfrm>
          <a:prstGeom prst="roundRect">
            <a:avLst>
              <a:gd name="adj" fmla="val 8824"/>
            </a:avLst>
          </a:prstGeom>
          <a:solidFill>
            <a:srgbClr val="F8F9FB"/>
          </a:solidFill>
          <a:ln/>
        </p:spPr>
      </p:sp>
      <p:sp>
        <p:nvSpPr>
          <p:cNvPr id="36" name="Text 34"/>
          <p:cNvSpPr/>
          <p:nvPr/>
        </p:nvSpPr>
        <p:spPr>
          <a:xfrm>
            <a:off x="868680" y="4050792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280160" y="4096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整改闭环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280160" y="43708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审计留痕 + 状态追踪管理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4846320" y="4050792"/>
            <a:ext cx="3749040" cy="621792"/>
          </a:xfrm>
          <a:prstGeom prst="roundRect">
            <a:avLst>
              <a:gd name="adj" fmla="val 8824"/>
            </a:avLst>
          </a:prstGeom>
          <a:solidFill>
            <a:srgbClr val="F0F7F3"/>
          </a:solidFill>
          <a:ln/>
        </p:spPr>
      </p:sp>
      <p:sp>
        <p:nvSpPr>
          <p:cNvPr id="40" name="Text 38"/>
          <p:cNvSpPr/>
          <p:nvPr/>
        </p:nvSpPr>
        <p:spPr>
          <a:xfrm>
            <a:off x="4983480" y="4050792"/>
            <a:ext cx="4114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49A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400" dirty="0"/>
          </a:p>
        </p:txBody>
      </p:sp>
      <p:sp>
        <p:nvSpPr>
          <p:cNvPr id="41" name="Text 39"/>
          <p:cNvSpPr/>
          <p:nvPr/>
        </p:nvSpPr>
        <p:spPr>
          <a:xfrm>
            <a:off x="5394960" y="409651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 线索管理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94960" y="437083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预约汇报与试点申请入口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项目成果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731520" y="1097280"/>
            <a:ext cx="1828800" cy="1554480"/>
          </a:xfrm>
          <a:prstGeom prst="roundRect">
            <a:avLst>
              <a:gd name="adj" fmla="val 5882"/>
            </a:avLst>
          </a:prstGeom>
          <a:solidFill>
            <a:srgbClr val="0F1B3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731520" y="1188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73152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功能模块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3152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完整覆盖审计全流程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834640" y="1097280"/>
            <a:ext cx="1828800" cy="1554480"/>
          </a:xfrm>
          <a:prstGeom prst="roundRect">
            <a:avLst>
              <a:gd name="adj" fmla="val 5882"/>
            </a:avLst>
          </a:prstGeom>
          <a:solidFill>
            <a:srgbClr val="2D4A7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34640" y="1188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83464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审计场景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83464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预算·采购·支付·凭证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937760" y="1097280"/>
            <a:ext cx="1828800" cy="1554480"/>
          </a:xfrm>
          <a:prstGeom prst="roundRect">
            <a:avLst>
              <a:gd name="adj" fmla="val 5882"/>
            </a:avLst>
          </a:prstGeom>
          <a:solidFill>
            <a:srgbClr val="0F1B33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1188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93776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角色体系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3776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管理员·审计员·查看员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040880" y="1097280"/>
            <a:ext cx="1828800" cy="1554480"/>
          </a:xfrm>
          <a:prstGeom prst="roundRect">
            <a:avLst>
              <a:gd name="adj" fmla="val 5882"/>
            </a:avLst>
          </a:prstGeom>
          <a:solidFill>
            <a:srgbClr val="2D4A7A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040880" y="1188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7040880" y="178308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部署策略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40880" y="21488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公网样板 + 政务云 PoC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2926080"/>
            <a:ext cx="7680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交付成果清单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14400" y="3383280"/>
            <a:ext cx="73152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可运行的完整系统（Rust 单二进制 + 前端静态文件）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政府 PoC 验收清单（含 8 大类 40+ 验收项）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完整技术文档（部署、运维、API、用户手册）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自动化规则引擎配置体系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密封导出包与校验工具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系统演示路径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960120" y="1188720"/>
            <a:ext cx="594360" cy="594360"/>
          </a:xfrm>
          <a:prstGeom prst="ellipse">
            <a:avLst/>
          </a:prstGeom>
          <a:solidFill>
            <a:srgbClr val="1A2A4A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1691640" y="1234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9A3C"/>
                </a:solidFill>
              </a:rPr>
              <a:t>→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1965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登录系统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48640" y="23774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三种角色分别登录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展示权限差异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697480" y="1188720"/>
            <a:ext cx="594360" cy="594360"/>
          </a:xfrm>
          <a:prstGeom prst="ellipse">
            <a:avLst/>
          </a:prstGeom>
          <a:solidFill>
            <a:srgbClr val="1A2A4A"/>
          </a:solidFill>
          <a:ln/>
        </p:spPr>
      </p:sp>
      <p:sp>
        <p:nvSpPr>
          <p:cNvPr id="9" name="Text 7"/>
          <p:cNvSpPr/>
          <p:nvPr/>
        </p:nvSpPr>
        <p:spPr>
          <a:xfrm>
            <a:off x="269748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429000" y="1234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9A3C"/>
                </a:solidFill>
              </a:rPr>
              <a:t>→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2286000" y="1965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创建审计任务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286000" y="23774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选择财政监督场景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导入样本数据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434840" y="1188720"/>
            <a:ext cx="594360" cy="594360"/>
          </a:xfrm>
          <a:prstGeom prst="ellipse">
            <a:avLst/>
          </a:prstGeom>
          <a:solidFill>
            <a:srgbClr val="1A2A4A"/>
          </a:solidFill>
          <a:ln/>
        </p:spPr>
      </p:sp>
      <p:sp>
        <p:nvSpPr>
          <p:cNvPr id="14" name="Text 12"/>
          <p:cNvSpPr/>
          <p:nvPr/>
        </p:nvSpPr>
        <p:spPr>
          <a:xfrm>
            <a:off x="443484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166360" y="1234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9A3C"/>
                </a:solidFill>
              </a:rPr>
              <a:t>→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4023360" y="1965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查看风险发现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023360" y="23774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规则引擎自动识别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辅助解读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72200" y="1188720"/>
            <a:ext cx="594360" cy="594360"/>
          </a:xfrm>
          <a:prstGeom prst="ellipse">
            <a:avLst/>
          </a:prstGeom>
          <a:solidFill>
            <a:srgbClr val="1A2A4A"/>
          </a:solidFill>
          <a:ln/>
        </p:spPr>
      </p:sp>
      <p:sp>
        <p:nvSpPr>
          <p:cNvPr id="19" name="Text 17"/>
          <p:cNvSpPr/>
          <p:nvPr/>
        </p:nvSpPr>
        <p:spPr>
          <a:xfrm>
            <a:off x="617220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6903720" y="1234440"/>
            <a:ext cx="457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49A3C"/>
                </a:solidFill>
              </a:rPr>
              <a:t>→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760720" y="1965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生成报告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760720" y="23774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 标准报告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密封导出包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7909560" y="1188720"/>
            <a:ext cx="594360" cy="594360"/>
          </a:xfrm>
          <a:prstGeom prst="ellipse">
            <a:avLst/>
          </a:prstGeom>
          <a:solidFill>
            <a:srgbClr val="1A2A4A"/>
          </a:solidFill>
          <a:ln/>
        </p:spPr>
      </p:sp>
      <p:sp>
        <p:nvSpPr>
          <p:cNvPr id="24" name="Text 22"/>
          <p:cNvSpPr/>
          <p:nvPr/>
        </p:nvSpPr>
        <p:spPr>
          <a:xfrm>
            <a:off x="7909560" y="1188720"/>
            <a:ext cx="594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498080" y="1965960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整改闭环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498080" y="2377440"/>
            <a:ext cx="1417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状态追踪</a:t>
            </a:r>
            <a:endParaRPr lang="en-US" sz="110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A6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审计留痕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731520" y="3383280"/>
            <a:ext cx="768096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27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1005840" y="34747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演示环境说明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05840" y="3840480"/>
            <a:ext cx="7132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当前为公网样板演示环境，仅使用脱敏样本数据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真实数据仅在私有化 PoC 环境中使用，确保数据安全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辅助功能可按部署策略启停，PoC 默认关闭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项目价值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097280"/>
            <a:ext cx="2606040" cy="3474720"/>
          </a:xfrm>
          <a:prstGeom prst="roundRect">
            <a:avLst>
              <a:gd name="adj" fmla="val 4211"/>
            </a:avLst>
          </a:prstGeom>
          <a:solidFill>
            <a:srgbClr val="2D4A7A">
              <a:alpha val="6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28016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874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技术价值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777240" y="242316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Rust 系统级性能与安全保障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单二进制零依赖部署方案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密码学级别证据保全机制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3383280" y="1097280"/>
            <a:ext cx="2606040" cy="3474720"/>
          </a:xfrm>
          <a:prstGeom prst="roundRect">
            <a:avLst>
              <a:gd name="adj" fmla="val 4211"/>
            </a:avLst>
          </a:prstGeom>
          <a:solidFill>
            <a:srgbClr val="2D4A7A">
              <a:alpha val="60000"/>
            </a:srgbClr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1280160"/>
            <a:ext cx="502920" cy="5029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83280" y="1874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业务价值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3611880" y="242316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覆盖财政审计全生命周期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三方角色协同提升监督效率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规则+AI 双层风险识别体系</a:t>
            </a:r>
            <a:endParaRPr lang="en-US" sz="1300" dirty="0"/>
          </a:p>
        </p:txBody>
      </p:sp>
      <p:sp>
        <p:nvSpPr>
          <p:cNvPr id="11" name="Shape 7"/>
          <p:cNvSpPr/>
          <p:nvPr/>
        </p:nvSpPr>
        <p:spPr>
          <a:xfrm>
            <a:off x="6217920" y="1097280"/>
            <a:ext cx="2606040" cy="3474720"/>
          </a:xfrm>
          <a:prstGeom prst="roundRect">
            <a:avLst>
              <a:gd name="adj" fmla="val 4211"/>
            </a:avLst>
          </a:prstGeom>
          <a:solidFill>
            <a:srgbClr val="2D4A7A">
              <a:alpha val="60000"/>
            </a:srgbClr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280160"/>
            <a:ext cx="502920" cy="5029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217920" y="18745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社会价值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6446520" y="2423160"/>
            <a:ext cx="2148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助力政府数字化治理转型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提升财政资金使用透明度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强化公共资金监督问责能力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B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73152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1463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AuditLens 财政监督工作台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3200400" y="2194560"/>
            <a:ext cx="2743200" cy="0"/>
          </a:xfrm>
          <a:prstGeom prst="line">
            <a:avLst/>
          </a:prstGeom>
          <a:noFill/>
          <a:ln w="19050">
            <a:solidFill>
              <a:srgbClr val="C49A3C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23774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让财政监督更智能、更透明、更高效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32918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感谢各位老师的指导与聆听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457200" y="3840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A95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敬请指正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AuditLens 财政监督工作台 - 结题答辩</dc:title>
  <dc:subject>PptxGenJS Presentation</dc:subject>
  <dc:creator>AuditLens Team</dc:creator>
  <cp:lastModifiedBy>AuditLens Team</cp:lastModifiedBy>
  <cp:revision>1</cp:revision>
  <dcterms:created xsi:type="dcterms:W3CDTF">2026-06-29T14:04:13Z</dcterms:created>
  <dcterms:modified xsi:type="dcterms:W3CDTF">2026-06-29T14:04:13Z</dcterms:modified>
</cp:coreProperties>
</file>